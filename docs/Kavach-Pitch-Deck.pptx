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Density multiplier</c:v>
                </c:pt>
              </c:strCache>
            </c:strRef>
          </c:tx>
          <c:spPr>
            <a:solidFill>
              <a:srgbClr val="FF5A5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E8EAED"/>
                    </a:solidFill>
                    <a:latin typeface="Consola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F5A5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F5A5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F5A5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F5A5F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656F81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RING-1</c:v>
                  </c:pt>
                  <c:pt idx="1">
                    <c:v>RING-2</c:v>
                  </c:pt>
                  <c:pt idx="2">
                    <c:v>RING-3</c:v>
                  </c:pt>
                  <c:pt idx="3">
                    <c:v>RING-4</c:v>
                  </c:pt>
                  <c:pt idx="4">
                    <c:v>Threshold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122</c:v>
                </c:pt>
                <c:pt idx="1">
                  <c:v>79</c:v>
                </c:pt>
                <c:pt idx="2">
                  <c:v>144</c:v>
                </c:pt>
                <c:pt idx="3">
                  <c:v>63</c:v>
                </c:pt>
                <c:pt idx="4">
                  <c:v>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E8EAED"/>
                  </a:solidFill>
                  <a:latin typeface="Consola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AA4B5"/>
                </a:solidFill>
                <a:latin typeface="Consola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60"/>
        </c:scaling>
        <c:delete val="0"/>
        <c:axPos val="l"/>
        <c:majorGridlines>
          <c:spPr>
            <a:ln w="6350" cap="flat">
              <a:solidFill>
                <a:srgbClr val="232A3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9AA4B5"/>
                </a:solidFill>
                <a:latin typeface="Consola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A0D12"/>
        </a:solidFill>
        <a:ln>
          <a:noFill/>
        </a:ln>
        <a:effectLst/>
      </c:spPr>
    </c:plotArea>
    <c:plotVisOnly val="1"/>
    <c:dispBlanksAs val="span"/>
  </c:chart>
  <c:spPr>
    <a:solidFill>
      <a:srgbClr val="0A0D12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828800"/>
            <a:ext cx="5486400" cy="5486400"/>
          </a:xfrm>
          <a:prstGeom prst="ellipse">
            <a:avLst/>
          </a:prstGeom>
          <a:solidFill>
            <a:srgbClr val="6C8EFF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0" y="3657600"/>
            <a:ext cx="5486400" cy="5486400"/>
          </a:xfrm>
          <a:prstGeom prst="ellipse">
            <a:avLst/>
          </a:prstGeom>
          <a:solidFill>
            <a:srgbClr val="FF5A5F">
              <a:alpha val="7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87452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171C27"/>
          </a:solidFill>
          <a:ln w="15875">
            <a:solidFill>
              <a:srgbClr val="6C8E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8745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C8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572768" y="18288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spc="200" kern="0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KAVACH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841248" y="26974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6C8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Fraud Ring Detection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841248" y="34290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AA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Banks flag fraud one account at a time. Real fraud works in rings — and rings are a graph.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41248" y="5852160"/>
            <a:ext cx="2743200" cy="457200"/>
          </a:xfrm>
          <a:prstGeom prst="roundRect">
            <a:avLst>
              <a:gd name="adj" fmla="val 50000"/>
            </a:avLst>
          </a:prstGeom>
          <a:solidFill>
            <a:srgbClr val="12161F"/>
          </a:solidFill>
          <a:ln w="12700">
            <a:solidFill>
              <a:srgbClr val="232A3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58521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4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Neo4j AuraDB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767328" y="5852160"/>
            <a:ext cx="2743200" cy="457200"/>
          </a:xfrm>
          <a:prstGeom prst="roundRect">
            <a:avLst>
              <a:gd name="adj" fmla="val 50000"/>
            </a:avLst>
          </a:prstGeom>
          <a:solidFill>
            <a:srgbClr val="12161F"/>
          </a:solidFill>
          <a:ln w="12700">
            <a:solidFill>
              <a:srgbClr val="232A3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67328" y="58521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4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Trust · Identity · Security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693408" y="5852160"/>
            <a:ext cx="2743200" cy="457200"/>
          </a:xfrm>
          <a:prstGeom prst="roundRect">
            <a:avLst>
              <a:gd name="adj" fmla="val 50000"/>
            </a:avLst>
          </a:prstGeom>
          <a:solidFill>
            <a:srgbClr val="12161F"/>
          </a:solidFill>
          <a:ln w="12700">
            <a:solidFill>
              <a:srgbClr val="232A3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93408" y="58521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4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HACKHAZARDS '26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C8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Single-account fraud detection is blind to coordination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5669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9AA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systems score each account in isolation — amount, velocity, location. They catch lone actors, but miss organized fraud rings: clusters of accounts that share devices, IPs, and phone numbers and cycle money between themselves to launder it and exploit promotions.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766560" y="1737360"/>
            <a:ext cx="4754880" cy="1554480"/>
          </a:xfrm>
          <a:prstGeom prst="roundRect">
            <a:avLst>
              <a:gd name="adj" fmla="val 4706"/>
            </a:avLst>
          </a:prstGeom>
          <a:solidFill>
            <a:srgbClr val="12161F"/>
          </a:solidFill>
          <a:ln w="12700">
            <a:solidFill>
              <a:srgbClr val="232A3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766560" y="187452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$485B+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6949440" y="269748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AA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annual global losses to payment &amp; identity fraud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4114800"/>
            <a:ext cx="5394960" cy="2194560"/>
          </a:xfrm>
          <a:prstGeom prst="roundRect">
            <a:avLst>
              <a:gd name="adj" fmla="val 3333"/>
            </a:avLst>
          </a:prstGeom>
          <a:solidFill>
            <a:srgbClr val="12161F"/>
          </a:solidFill>
          <a:ln w="12700">
            <a:solidFill>
              <a:srgbClr val="232A3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68680" y="42519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/ rules today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96112" y="4754880"/>
            <a:ext cx="146304" cy="146304"/>
          </a:xfrm>
          <a:prstGeom prst="ellipse">
            <a:avLst/>
          </a:prstGeom>
          <a:solidFill>
            <a:srgbClr val="FF5A5F"/>
          </a:solidFill>
          <a:ln w="12700">
            <a:solidFill>
              <a:srgbClr val="FF5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43000" y="4645152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“Is THIS account suspicious?” — one row at a time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96112" y="5212080"/>
            <a:ext cx="146304" cy="146304"/>
          </a:xfrm>
          <a:prstGeom prst="ellipse">
            <a:avLst/>
          </a:prstGeom>
          <a:solidFill>
            <a:srgbClr val="FF5A5F"/>
          </a:solidFill>
          <a:ln w="12700">
            <a:solidFill>
              <a:srgbClr val="FF5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43000" y="5102352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links need slow multi-way self-joins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96112" y="5669280"/>
            <a:ext cx="146304" cy="146304"/>
          </a:xfrm>
          <a:prstGeom prst="ellipse">
            <a:avLst/>
          </a:prstGeom>
          <a:solidFill>
            <a:srgbClr val="FF5A5F"/>
          </a:solidFill>
          <a:ln w="12700">
            <a:solidFill>
              <a:srgbClr val="FF5A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43000" y="5559552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Rings stay invisible until the money is gone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309360" y="4114800"/>
            <a:ext cx="5212080" cy="2194560"/>
          </a:xfrm>
          <a:prstGeom prst="roundRect">
            <a:avLst>
              <a:gd name="adj" fmla="val 3333"/>
            </a:avLst>
          </a:prstGeom>
          <a:solidFill>
            <a:srgbClr val="12161F"/>
          </a:solidFill>
          <a:ln w="12700">
            <a:solidFill>
              <a:srgbClr val="232A3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537960" y="42519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Kavach — graph-native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565392" y="4754880"/>
            <a:ext cx="146304" cy="146304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12280" y="464515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“Which accounts are secretly connected?”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565392" y="5212080"/>
            <a:ext cx="146304" cy="146304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12280" y="510235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device/IP/phone = a traversable edge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565392" y="5669280"/>
            <a:ext cx="146304" cy="146304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12280" y="555955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Rings surface as dense clusters — before payout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C8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INSIGHT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is a relationship problem, not a row problem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A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data, two mental models. Only one makes the ring obvious.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5394960" cy="3931920"/>
          </a:xfrm>
          <a:prstGeom prst="roundRect">
            <a:avLst>
              <a:gd name="adj" fmla="val 1860"/>
            </a:avLst>
          </a:prstGeom>
          <a:solidFill>
            <a:srgbClr val="12161F"/>
          </a:solidFill>
          <a:ln w="12700">
            <a:solidFill>
              <a:srgbClr val="232A3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24231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AA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rows (SQL)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2926080"/>
            <a:ext cx="49377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56F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accounts        transactions        devices
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AA4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ACC-401  ...    ACC-401 -&gt; ACC-402   DEV-401
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AA4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ACC-402  ...    ACC-402 -&gt; ACC-401   DEV-401
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AA4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ACC-406  ...    ACC-406 -&gt; ACC-401   DEV-401
</a:t>
            </a:r>
            <a:pPr indent="0" marL="0">
              <a:lnSpc>
                <a:spcPct val="115000"/>
              </a:lnSpc>
              <a:buNone/>
            </a:pP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5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 find the ring: JOIN devices to itself,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5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then IPs, then phones, then transactions,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5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then recurse for depth… slow and unreadable.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309360" y="2286000"/>
            <a:ext cx="5212080" cy="3931920"/>
          </a:xfrm>
          <a:prstGeom prst="roundRect">
            <a:avLst>
              <a:gd name="adj" fmla="val 1860"/>
            </a:avLst>
          </a:prstGeom>
          <a:solidFill>
            <a:srgbClr val="12161F"/>
          </a:solidFill>
          <a:ln w="12700">
            <a:solidFill>
              <a:srgbClr val="232A3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37960" y="24231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C8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graph (Neo4j)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 flipV="1">
            <a:off x="8915400" y="3017520"/>
            <a:ext cx="0" cy="960120"/>
          </a:xfrm>
          <a:prstGeom prst="line">
            <a:avLst/>
          </a:prstGeom>
          <a:noFill/>
          <a:ln w="15875">
            <a:solidFill>
              <a:srgbClr val="232A3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V="1">
            <a:off x="8915400" y="3497580"/>
            <a:ext cx="831488" cy="480060"/>
          </a:xfrm>
          <a:prstGeom prst="line">
            <a:avLst/>
          </a:prstGeom>
          <a:noFill/>
          <a:ln w="15875">
            <a:solidFill>
              <a:srgbClr val="232A3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915400" y="3977640"/>
            <a:ext cx="831488" cy="480060"/>
          </a:xfrm>
          <a:prstGeom prst="line">
            <a:avLst/>
          </a:prstGeom>
          <a:noFill/>
          <a:ln w="15875">
            <a:solidFill>
              <a:srgbClr val="232A3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915400" y="3977640"/>
            <a:ext cx="0" cy="960120"/>
          </a:xfrm>
          <a:prstGeom prst="line">
            <a:avLst/>
          </a:prstGeom>
          <a:noFill/>
          <a:ln w="15875">
            <a:solidFill>
              <a:srgbClr val="232A3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flipV="1">
            <a:off x="8083912" y="3977640"/>
            <a:ext cx="831488" cy="480060"/>
          </a:xfrm>
          <a:prstGeom prst="line">
            <a:avLst/>
          </a:prstGeom>
          <a:noFill/>
          <a:ln w="15875">
            <a:solidFill>
              <a:srgbClr val="232A3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83912" y="3497580"/>
            <a:ext cx="831488" cy="480060"/>
          </a:xfrm>
          <a:prstGeom prst="line">
            <a:avLst/>
          </a:prstGeom>
          <a:noFill/>
          <a:ln w="15875">
            <a:solidFill>
              <a:srgbClr val="232A3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641080" y="3703320"/>
            <a:ext cx="548640" cy="548640"/>
          </a:xfrm>
          <a:prstGeom prst="ellipse">
            <a:avLst/>
          </a:prstGeom>
          <a:solidFill>
            <a:srgbClr val="F5A623"/>
          </a:solidFill>
          <a:ln w="19050">
            <a:solidFill>
              <a:srgbClr val="0A0D1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759952" y="2862072"/>
            <a:ext cx="310896" cy="310896"/>
          </a:xfrm>
          <a:prstGeom prst="ellipse">
            <a:avLst/>
          </a:prstGeom>
          <a:solidFill>
            <a:srgbClr val="FF5A5F"/>
          </a:solidFill>
          <a:ln w="19050">
            <a:solidFill>
              <a:srgbClr val="0A0D1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91440" y="3342132"/>
            <a:ext cx="310896" cy="310896"/>
          </a:xfrm>
          <a:prstGeom prst="ellipse">
            <a:avLst/>
          </a:prstGeom>
          <a:solidFill>
            <a:srgbClr val="FF5A5F"/>
          </a:solidFill>
          <a:ln w="19050">
            <a:solidFill>
              <a:srgbClr val="0A0D1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591440" y="4302252"/>
            <a:ext cx="310896" cy="310896"/>
          </a:xfrm>
          <a:prstGeom prst="ellipse">
            <a:avLst/>
          </a:prstGeom>
          <a:solidFill>
            <a:srgbClr val="FF5A5F"/>
          </a:solidFill>
          <a:ln w="19050">
            <a:solidFill>
              <a:srgbClr val="0A0D1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759952" y="4782312"/>
            <a:ext cx="310896" cy="310896"/>
          </a:xfrm>
          <a:prstGeom prst="ellipse">
            <a:avLst/>
          </a:prstGeom>
          <a:solidFill>
            <a:srgbClr val="FF5A5F"/>
          </a:solidFill>
          <a:ln w="19050">
            <a:solidFill>
              <a:srgbClr val="0A0D1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928464" y="4302252"/>
            <a:ext cx="310896" cy="310896"/>
          </a:xfrm>
          <a:prstGeom prst="ellipse">
            <a:avLst/>
          </a:prstGeom>
          <a:solidFill>
            <a:srgbClr val="FF5A5F"/>
          </a:solidFill>
          <a:ln w="19050">
            <a:solidFill>
              <a:srgbClr val="0A0D1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928464" y="3342132"/>
            <a:ext cx="310896" cy="310896"/>
          </a:xfrm>
          <a:prstGeom prst="ellipse">
            <a:avLst/>
          </a:prstGeom>
          <a:solidFill>
            <a:srgbClr val="FF5A5F"/>
          </a:solidFill>
          <a:ln w="19050">
            <a:solidFill>
              <a:srgbClr val="0A0D1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41080" y="3703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D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537960" y="562356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AA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accounts, one shared device — the ring is visible at a glance, and “how deep does it go?” is a single traversal.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C8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→ graph → detect → explain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2697480" cy="4023360"/>
          </a:xfrm>
          <a:prstGeom prst="roundRect">
            <a:avLst>
              <a:gd name="adj" fmla="val 2712"/>
            </a:avLst>
          </a:prstGeom>
          <a:solidFill>
            <a:srgbClr val="12161F"/>
          </a:solidFill>
          <a:ln w="12700">
            <a:solidFill>
              <a:srgbClr val="232A3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94560"/>
            <a:ext cx="685800" cy="685800"/>
          </a:xfrm>
          <a:prstGeom prst="ellipse">
            <a:avLst/>
          </a:prstGeom>
          <a:solidFill>
            <a:srgbClr val="171C27"/>
          </a:solidFill>
          <a:ln w="19050">
            <a:solidFill>
              <a:srgbClr val="6C8E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1945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C8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96112" y="31089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96112" y="3611880"/>
            <a:ext cx="21945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9AA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Accounts, devices, IPs, phones and transactions stream in as a network of relationships — not isolated rows.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502152" y="1920240"/>
            <a:ext cx="2697480" cy="4023360"/>
          </a:xfrm>
          <a:prstGeom prst="roundRect">
            <a:avLst>
              <a:gd name="adj" fmla="val 2712"/>
            </a:avLst>
          </a:prstGeom>
          <a:solidFill>
            <a:srgbClr val="12161F"/>
          </a:solidFill>
          <a:ln w="12700">
            <a:solidFill>
              <a:srgbClr val="232A3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776472" y="2194560"/>
            <a:ext cx="685800" cy="685800"/>
          </a:xfrm>
          <a:prstGeom prst="ellipse">
            <a:avLst/>
          </a:prstGeom>
          <a:solidFill>
            <a:srgbClr val="171C27"/>
          </a:solidFill>
          <a:ln w="19050">
            <a:solidFill>
              <a:srgbClr val="6C8E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76472" y="21945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C8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758184" y="31089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in Neo4j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758184" y="3611880"/>
            <a:ext cx="21945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9AA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entity becomes a connected node in AuraDB. Shared infrastructure becomes a traversable edge.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364224" y="1920240"/>
            <a:ext cx="2697480" cy="4023360"/>
          </a:xfrm>
          <a:prstGeom prst="roundRect">
            <a:avLst>
              <a:gd name="adj" fmla="val 2712"/>
            </a:avLst>
          </a:prstGeom>
          <a:solidFill>
            <a:srgbClr val="12161F"/>
          </a:solidFill>
          <a:ln w="12700">
            <a:solidFill>
              <a:srgbClr val="232A3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638544" y="2194560"/>
            <a:ext cx="685800" cy="685800"/>
          </a:xfrm>
          <a:prstGeom prst="ellipse">
            <a:avLst/>
          </a:prstGeom>
          <a:solidFill>
            <a:srgbClr val="171C27"/>
          </a:solidFill>
          <a:ln w="19050">
            <a:solidFill>
              <a:srgbClr val="FF5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38544" y="21945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620256" y="31089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rings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620256" y="3611880"/>
            <a:ext cx="21945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9AA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Multi-hop Cypher + clustering surface tight groups that share infrastructure AND transact densely.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226296" y="1920240"/>
            <a:ext cx="2697480" cy="4023360"/>
          </a:xfrm>
          <a:prstGeom prst="roundRect">
            <a:avLst>
              <a:gd name="adj" fmla="val 2712"/>
            </a:avLst>
          </a:prstGeom>
          <a:solidFill>
            <a:srgbClr val="12161F"/>
          </a:solidFill>
          <a:ln w="12700">
            <a:solidFill>
              <a:srgbClr val="232A3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500616" y="2194560"/>
            <a:ext cx="685800" cy="685800"/>
          </a:xfrm>
          <a:prstGeom prst="ellipse">
            <a:avLst/>
          </a:prstGeom>
          <a:solidFill>
            <a:srgbClr val="171C27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500616" y="21945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9482328" y="31089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482328" y="3611880"/>
            <a:ext cx="21945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9AA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ring is flagged in plain English with the exact shared device/IP and its density multiplier.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 ACTUALLY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against ground truth — not just a claim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3566160" cy="2286000"/>
          </a:xfrm>
          <a:prstGeom prst="roundRect">
            <a:avLst>
              <a:gd name="adj" fmla="val 3200"/>
            </a:avLst>
          </a:prstGeom>
          <a:solidFill>
            <a:srgbClr val="12161F"/>
          </a:solidFill>
          <a:ln w="12700">
            <a:solidFill>
              <a:srgbClr val="232A3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214884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640080" y="30632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200" kern="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RECALL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34290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AA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4 seeded rings detected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89120" y="1920240"/>
            <a:ext cx="3566160" cy="2286000"/>
          </a:xfrm>
          <a:prstGeom prst="roundRect">
            <a:avLst>
              <a:gd name="adj" fmla="val 3200"/>
            </a:avLst>
          </a:prstGeom>
          <a:solidFill>
            <a:srgbClr val="12161F"/>
          </a:solidFill>
          <a:ln w="12700">
            <a:solidFill>
              <a:srgbClr val="232A3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389120" y="214884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5000" dirty="0"/>
          </a:p>
        </p:txBody>
      </p:sp>
      <p:sp>
        <p:nvSpPr>
          <p:cNvPr id="10" name="Text 8"/>
          <p:cNvSpPr/>
          <p:nvPr/>
        </p:nvSpPr>
        <p:spPr>
          <a:xfrm>
            <a:off x="4389120" y="30632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200" kern="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 POSITIVES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663440" y="34290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AA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innocent account flagged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38160" y="1920240"/>
            <a:ext cx="3566160" cy="2286000"/>
          </a:xfrm>
          <a:prstGeom prst="roundRect">
            <a:avLst>
              <a:gd name="adj" fmla="val 3200"/>
            </a:avLst>
          </a:prstGeom>
          <a:solidFill>
            <a:srgbClr val="12161F"/>
          </a:solidFill>
          <a:ln w="12700">
            <a:solidFill>
              <a:srgbClr val="232A3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138160" y="214884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F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63–144×</a:t>
            </a:r>
            <a:endParaRPr lang="en-US" sz="5000" dirty="0"/>
          </a:p>
        </p:txBody>
      </p:sp>
      <p:sp>
        <p:nvSpPr>
          <p:cNvPr id="14" name="Text 12"/>
          <p:cNvSpPr/>
          <p:nvPr/>
        </p:nvSpPr>
        <p:spPr>
          <a:xfrm>
            <a:off x="8138160" y="30632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200" kern="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DENSER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412480" y="34290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AA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 internal transaction density vs. the network baseline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4526280"/>
            <a:ext cx="10881360" cy="1600200"/>
          </a:xfrm>
          <a:prstGeom prst="roundRect">
            <a:avLst>
              <a:gd name="adj" fmla="val 4571"/>
            </a:avLst>
          </a:prstGeom>
          <a:solidFill>
            <a:srgbClr val="171C27"/>
          </a:solidFill>
          <a:ln w="12700">
            <a:solidFill>
              <a:srgbClr val="232A3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14400" y="4709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npm run validate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14400" y="507492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9AA4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RING-1 (6)  ✓  density 122×  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9AA4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RING-2 (9)  ✓  density 79×
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9AA4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RING-3 (6)  ✓  density 144×  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9AA4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RING-4 (9)  ✓  density 63×
</a:t>
            </a:r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Recall 4/4  ·  Precision 100%  ·  False positives 0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C8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PROOF, LIVE ON STAGE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question, same data, same answer — one line vs. a recursive join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84708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A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Kavach runs the identical fraud query in Cypher and in SQLite, side by side — and shows the results match.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5394960" cy="3931920"/>
          </a:xfrm>
          <a:prstGeom prst="roundRect">
            <a:avLst>
              <a:gd name="adj" fmla="val 1860"/>
            </a:avLst>
          </a:prstGeom>
          <a:solidFill>
            <a:srgbClr val="171C27"/>
          </a:solidFill>
          <a:ln w="12700">
            <a:solidFill>
              <a:srgbClr val="232A3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24231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C8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 — Cypher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288036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MATCH (s:Account {id:'ACC-402'})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-[:USED_DEVICE|USED_IP|REGISTERED_WITH*..12]-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(c:Account)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DISTINCT c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45720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traversal pattern</a:t>
            </a:r>
            <a:pPr indent="0" marL="0">
              <a:buNone/>
            </a:pPr>
            <a:r>
              <a:rPr lang="en-US" sz="1250" dirty="0">
                <a:solidFill>
                  <a:srgbClr val="9AA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traces the full ring to any depth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96112" y="5212080"/>
            <a:ext cx="146304" cy="146304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43000" y="50749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is a query parameter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309360" y="2286000"/>
            <a:ext cx="5212080" cy="3931920"/>
          </a:xfrm>
          <a:prstGeom prst="roundRect">
            <a:avLst>
              <a:gd name="adj" fmla="val 1860"/>
            </a:avLst>
          </a:prstGeom>
          <a:solidFill>
            <a:srgbClr val="171C27"/>
          </a:solidFill>
          <a:ln w="12700">
            <a:solidFill>
              <a:srgbClr val="232A3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537960" y="24231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— recursive CTE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37960" y="2880360"/>
            <a:ext cx="4754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RECURSIVE ring(account) AS (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SELECT 'ACC-402'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UNION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SELECT s.b FROM shares s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JOIN ring r ON s.a = r.account )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COUNT(*) FROM ring;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37960" y="45720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 CTE + a pre-joined edge table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565392" y="5212080"/>
            <a:ext cx="146304" cy="146304"/>
          </a:xfrm>
          <a:prstGeom prst="ellipse">
            <a:avLst/>
          </a:prstGeom>
          <a:solidFill>
            <a:srgbClr val="FF5A5F"/>
          </a:solidFill>
          <a:ln w="12700">
            <a:solidFill>
              <a:srgbClr val="FF5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12280" y="50749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extra hop is more work; degrades with depth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C8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ALERT TO ACTION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analyst workflow, not just a red flag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394960" cy="4114800"/>
          </a:xfrm>
          <a:prstGeom prst="roundRect">
            <a:avLst>
              <a:gd name="adj" fmla="val 1778"/>
            </a:avLst>
          </a:prstGeom>
          <a:solidFill>
            <a:srgbClr val="12161F"/>
          </a:solidFill>
          <a:ln w="12700">
            <a:solidFill>
              <a:srgbClr val="232A3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21031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C8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— shortest path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68680" y="256032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9AA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“How are these two accounts secretly connected?” Neo4j shortestPath reveals the hidden chain between accounts that never transacted directly.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68680" y="3657600"/>
            <a:ext cx="49377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5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ACC-402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9AA4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  shares IP 216.194.255.19 with
</a:t>
            </a:r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ACC-401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9AA4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  shares device DEV-401 with
</a:t>
            </a:r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5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ACC-406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920240"/>
            <a:ext cx="5212080" cy="4114800"/>
          </a:xfrm>
          <a:prstGeom prst="roundRect">
            <a:avLst>
              <a:gd name="adj" fmla="val 1778"/>
            </a:avLst>
          </a:prstGeom>
          <a:solidFill>
            <a:srgbClr val="12161F"/>
          </a:solidFill>
          <a:ln w="12700">
            <a:solidFill>
              <a:srgbClr val="232A3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37960" y="21031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C8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— ask in plain English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537960" y="256032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9AA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Natural-language questions become real, read-only Cypher and run against the live graph. Works offline via a rule-based fallback — never a single point of demo failure.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537960" y="3749040"/>
            <a:ext cx="4754880" cy="502920"/>
          </a:xfrm>
          <a:prstGeom prst="roundRect">
            <a:avLst>
              <a:gd name="adj" fmla="val 18182"/>
            </a:avLst>
          </a:prstGeom>
          <a:solidFill>
            <a:srgbClr val="171C27"/>
          </a:solidFill>
          <a:ln w="12700">
            <a:solidFill>
              <a:srgbClr val="232A3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75120" y="374904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“How much money moved inside the rings?”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537960" y="44348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C8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</a:t>
            </a:r>
            <a:pPr indent="0" marL="0">
              <a:buNone/>
            </a:pPr>
            <a:r>
              <a:rPr lang="en-US" sz="125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₹17,12,832 across 164 internal transactions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537960" y="48920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56F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Cypher shown with every answer.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C8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UNDER THE HOOD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technical depth is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566160" cy="1783080"/>
          </a:xfrm>
          <a:prstGeom prst="roundRect">
            <a:avLst>
              <a:gd name="adj" fmla="val 4103"/>
            </a:avLst>
          </a:prstGeom>
          <a:solidFill>
            <a:srgbClr val="12161F"/>
          </a:solidFill>
          <a:ln w="12700">
            <a:solidFill>
              <a:srgbClr val="232A3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20116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6C8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Graph-native detection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868680" y="251460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AA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Multi-hop Cypher traversal + union-find clustering. No GDS dependency, so it runs on the AuraDB free tier any judge can spin up.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89120" y="1828800"/>
            <a:ext cx="3566160" cy="1783080"/>
          </a:xfrm>
          <a:prstGeom prst="roundRect">
            <a:avLst>
              <a:gd name="adj" fmla="val 4103"/>
            </a:avLst>
          </a:prstGeom>
          <a:solidFill>
            <a:srgbClr val="12161F"/>
          </a:solidFill>
          <a:ln w="12700">
            <a:solidFill>
              <a:srgbClr val="232A3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617720" y="20116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6C8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Edge-density scoring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617720" y="251460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AA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Rings flagged on shared-infra reuse AND internal transaction density vs. the graph's random baseline — size-independent, defensible.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138160" y="1828800"/>
            <a:ext cx="3566160" cy="1783080"/>
          </a:xfrm>
          <a:prstGeom prst="roundRect">
            <a:avLst>
              <a:gd name="adj" fmla="val 4103"/>
            </a:avLst>
          </a:prstGeom>
          <a:solidFill>
            <a:srgbClr val="12161F"/>
          </a:solidFill>
          <a:ln w="12700">
            <a:solidFill>
              <a:srgbClr val="232A3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366760" y="20116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6C8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SQL-vs-Cypher benchmark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366760" y="251460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AA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In-memory SQLite mirror of the live graph runs the same query for a true head-to-head with correctness parity.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3794760"/>
            <a:ext cx="3566160" cy="1783080"/>
          </a:xfrm>
          <a:prstGeom prst="roundRect">
            <a:avLst>
              <a:gd name="adj" fmla="val 4103"/>
            </a:avLst>
          </a:prstGeom>
          <a:solidFill>
            <a:srgbClr val="12161F"/>
          </a:solidFill>
          <a:ln w="12700">
            <a:solidFill>
              <a:srgbClr val="232A3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68680" y="39776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6C8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Text-to-Cypher copilot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68680" y="448056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AA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(Claude) with a read-only guard, plus a deterministic rule-based fallback for zero-dependency demos.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389120" y="3794760"/>
            <a:ext cx="3566160" cy="1783080"/>
          </a:xfrm>
          <a:prstGeom prst="roundRect">
            <a:avLst>
              <a:gd name="adj" fmla="val 4103"/>
            </a:avLst>
          </a:prstGeom>
          <a:solidFill>
            <a:srgbClr val="12161F"/>
          </a:solidFill>
          <a:ln w="12700">
            <a:solidFill>
              <a:srgbClr val="232A3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617720" y="39776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6C8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Per-account risk scoring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617720" y="448056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AA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0–100 score blending shared-infra degree, ties to flagged accounts, and ring membership.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138160" y="3794760"/>
            <a:ext cx="3566160" cy="1783080"/>
          </a:xfrm>
          <a:prstGeom prst="roundRect">
            <a:avLst>
              <a:gd name="adj" fmla="val 4103"/>
            </a:avLst>
          </a:prstGeom>
          <a:solidFill>
            <a:srgbClr val="12161F"/>
          </a:solidFill>
          <a:ln w="12700">
            <a:solidFill>
              <a:srgbClr val="232A3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366760" y="39776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6C8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WebSocket feed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8366760" y="448056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AA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transactions streamed from the graph; inject-ring endpoint forms a ring on stage in real time.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C8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SIGNAL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Rings transact far denser than the network — by design and in fact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84708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transaction density as a multiple of the graph's random baseline. The detection threshold is 5×; every seeded ring clears it by 12–29×.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40080" y="2514600"/>
          <a:ext cx="1088136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C8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BUSINESS VIABILITY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market, a clear buyer, obvious ROI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3566160" cy="4206240"/>
          </a:xfrm>
          <a:prstGeom prst="roundRect">
            <a:avLst>
              <a:gd name="adj" fmla="val 2051"/>
            </a:avLst>
          </a:prstGeom>
          <a:solidFill>
            <a:srgbClr val="12161F"/>
          </a:solidFill>
          <a:ln w="12700">
            <a:solidFill>
              <a:srgbClr val="232A3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96112" y="21488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C8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pays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914400" y="2880360"/>
            <a:ext cx="146304" cy="146304"/>
          </a:xfrm>
          <a:prstGeom prst="ellipse">
            <a:avLst/>
          </a:prstGeom>
          <a:solidFill>
            <a:srgbClr val="6C8EFF"/>
          </a:solidFill>
          <a:ln w="12700">
            <a:solidFill>
              <a:srgbClr val="6C8E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88720" y="2724912"/>
            <a:ext cx="2788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AA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Banks, fintechs, payment processors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914400" y="3657600"/>
            <a:ext cx="146304" cy="146304"/>
          </a:xfrm>
          <a:prstGeom prst="ellipse">
            <a:avLst/>
          </a:prstGeom>
          <a:solidFill>
            <a:srgbClr val="6C8EFF"/>
          </a:solidFill>
          <a:ln w="12700">
            <a:solidFill>
              <a:srgbClr val="6C8E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3502152"/>
            <a:ext cx="2788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AA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Lending &amp; BNPL platforms (promo abuse)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14400" y="4434840"/>
            <a:ext cx="146304" cy="146304"/>
          </a:xfrm>
          <a:prstGeom prst="ellipse">
            <a:avLst/>
          </a:prstGeom>
          <a:solidFill>
            <a:srgbClr val="6C8EFF"/>
          </a:solidFill>
          <a:ln w="12700">
            <a:solidFill>
              <a:srgbClr val="6C8E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88720" y="4279392"/>
            <a:ext cx="2788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AA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 exchanges &amp; wallets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914400" y="5212080"/>
            <a:ext cx="146304" cy="146304"/>
          </a:xfrm>
          <a:prstGeom prst="ellipse">
            <a:avLst/>
          </a:prstGeom>
          <a:solidFill>
            <a:srgbClr val="6C8EFF"/>
          </a:solidFill>
          <a:ln w="12700">
            <a:solidFill>
              <a:srgbClr val="6C8E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88720" y="5056632"/>
            <a:ext cx="2788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AA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Marketplaces fighting collusion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389120" y="1920240"/>
            <a:ext cx="3566160" cy="4206240"/>
          </a:xfrm>
          <a:prstGeom prst="roundRect">
            <a:avLst>
              <a:gd name="adj" fmla="val 2051"/>
            </a:avLst>
          </a:prstGeom>
          <a:solidFill>
            <a:srgbClr val="12161F"/>
          </a:solidFill>
          <a:ln w="12700">
            <a:solidFill>
              <a:srgbClr val="232A3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645152" y="21488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they buy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4663440" y="2880360"/>
            <a:ext cx="146304" cy="146304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0" y="2724912"/>
            <a:ext cx="2788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AA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rings cause the largest single losses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663440" y="3657600"/>
            <a:ext cx="146304" cy="146304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0" y="3502152"/>
            <a:ext cx="2788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AA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flags cut analyst review time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663440" y="4434840"/>
            <a:ext cx="146304" cy="146304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4279392"/>
            <a:ext cx="2788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AA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catches links rules miss entirely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663440" y="5212080"/>
            <a:ext cx="146304" cy="146304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37760" y="5056632"/>
            <a:ext cx="2788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AA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false positives = happier customers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138160" y="1920240"/>
            <a:ext cx="3566160" cy="4206240"/>
          </a:xfrm>
          <a:prstGeom prst="roundRect">
            <a:avLst>
              <a:gd name="adj" fmla="val 2051"/>
            </a:avLst>
          </a:prstGeom>
          <a:solidFill>
            <a:srgbClr val="12161F"/>
          </a:solidFill>
          <a:ln w="12700">
            <a:solidFill>
              <a:srgbClr val="232A3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394192" y="21488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8412480" y="2880360"/>
            <a:ext cx="146304" cy="146304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686800" y="2724912"/>
            <a:ext cx="2788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AA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Deploys next to existing rules engine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8412480" y="3657600"/>
            <a:ext cx="146304" cy="146304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686800" y="3502152"/>
            <a:ext cx="2788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AA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Ingests the data they already have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8412480" y="4434840"/>
            <a:ext cx="146304" cy="146304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686800" y="4279392"/>
            <a:ext cx="2788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AA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Priced per monitored account / volume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8412480" y="5212080"/>
            <a:ext cx="146304" cy="146304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686800" y="5056632"/>
            <a:ext cx="2788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AA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 on one product line, expand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C8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services, one graph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3429000" cy="2468880"/>
          </a:xfrm>
          <a:prstGeom prst="roundRect">
            <a:avLst>
              <a:gd name="adj" fmla="val 2963"/>
            </a:avLst>
          </a:prstGeom>
          <a:solidFill>
            <a:srgbClr val="12161F"/>
          </a:solidFill>
          <a:ln w="12700">
            <a:solidFill>
              <a:srgbClr val="232A3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96112" y="2304288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96112" y="288036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AA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 + seeded rings + ground truth. Loads into AuraDB.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96112" y="406908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56F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TypeScript · faker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087368" y="3017520"/>
            <a:ext cx="292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56F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389120" y="2103120"/>
            <a:ext cx="3429000" cy="2468880"/>
          </a:xfrm>
          <a:prstGeom prst="roundRect">
            <a:avLst>
              <a:gd name="adj" fmla="val 2963"/>
            </a:avLst>
          </a:prstGeom>
          <a:solidFill>
            <a:srgbClr val="12161F"/>
          </a:solidFill>
          <a:ln w="12700">
            <a:solidFill>
              <a:srgbClr val="232A3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645152" y="2304288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645152" y="288036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AA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Detection, SQL-vs-Cypher benchmark, shortestPath, text-to-Cypher, WebSocket feed.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645152" y="406908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56F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Express · neo4j-driver · ws · sql.js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836408" y="3017520"/>
            <a:ext cx="292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56F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8138160" y="2103120"/>
            <a:ext cx="3429000" cy="2468880"/>
          </a:xfrm>
          <a:prstGeom prst="roundRect">
            <a:avLst>
              <a:gd name="adj" fmla="val 2963"/>
            </a:avLst>
          </a:prstGeom>
          <a:solidFill>
            <a:srgbClr val="12161F"/>
          </a:solidFill>
          <a:ln w="12700">
            <a:solidFill>
              <a:srgbClr val="232A3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394192" y="2304288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394192" y="288036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AA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force-graph, ring alerts, investigate / copilot / proof panels.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394192" y="406908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56F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Next.js 16 · React 19 · Tailwind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40080" y="4937760"/>
            <a:ext cx="10881360" cy="1188720"/>
          </a:xfrm>
          <a:prstGeom prst="roundRect">
            <a:avLst>
              <a:gd name="adj" fmla="val 6154"/>
            </a:avLst>
          </a:prstGeom>
          <a:solidFill>
            <a:srgbClr val="171C27"/>
          </a:solidFill>
          <a:ln w="12700">
            <a:solidFill>
              <a:srgbClr val="232A3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14400" y="5120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 AuraDB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14400" y="553212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source of truth. All relationship reasoning happens here — no relational DB doing the real work behind it.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1828800"/>
            <a:ext cx="6400800" cy="6400800"/>
          </a:xfrm>
          <a:prstGeom prst="ellipse">
            <a:avLst/>
          </a:prstGeom>
          <a:solidFill>
            <a:srgbClr val="6C8EFF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828800" y="3200400"/>
            <a:ext cx="5486400" cy="5486400"/>
          </a:xfrm>
          <a:prstGeom prst="ellipse">
            <a:avLst/>
          </a:prstGeom>
          <a:solidFill>
            <a:srgbClr val="34D399">
              <a:alpha val="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82880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spc="200" kern="0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KAVACH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41248" y="26974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6C8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 the ring, not just the account.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41248" y="34290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A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Graph-native fraud ring detection on Neo4j AuraDB.  </a:t>
            </a:r>
            <a:pPr indent="0" marL="0">
              <a:buNone/>
            </a:pPr>
            <a:r>
              <a:rPr lang="en-US" sz="15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recall, 0 false positives, verified.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41248" y="4352544"/>
            <a:ext cx="146304" cy="146304"/>
          </a:xfrm>
          <a:prstGeom prst="ellipse">
            <a:avLst/>
          </a:prstGeom>
          <a:solidFill>
            <a:srgbClr val="6C8EFF"/>
          </a:solidFill>
          <a:ln w="12700">
            <a:solidFill>
              <a:srgbClr val="6C8E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5568" y="42976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detection + inject-on-stage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327648" y="4352544"/>
            <a:ext cx="146304" cy="146304"/>
          </a:xfrm>
          <a:prstGeom prst="ellipse">
            <a:avLst/>
          </a:prstGeom>
          <a:solidFill>
            <a:srgbClr val="6C8EFF"/>
          </a:solidFill>
          <a:ln w="12700">
            <a:solidFill>
              <a:srgbClr val="6C8E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01968" y="42976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SQL-vs-Cypher proof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41248" y="4901184"/>
            <a:ext cx="146304" cy="146304"/>
          </a:xfrm>
          <a:prstGeom prst="ellipse">
            <a:avLst/>
          </a:prstGeom>
          <a:solidFill>
            <a:srgbClr val="6C8EFF"/>
          </a:solidFill>
          <a:ln w="12700">
            <a:solidFill>
              <a:srgbClr val="6C8E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15568" y="48463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shortestPath investigation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327648" y="4901184"/>
            <a:ext cx="146304" cy="146304"/>
          </a:xfrm>
          <a:prstGeom prst="ellipse">
            <a:avLst/>
          </a:prstGeom>
          <a:solidFill>
            <a:srgbClr val="6C8EFF"/>
          </a:solidFill>
          <a:ln w="12700">
            <a:solidFill>
              <a:srgbClr val="6C8E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01968" y="48463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Natural-language copilot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6035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100" kern="0" dirty="0">
                <a:solidFill>
                  <a:srgbClr val="656F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HACKHAZARDS '26  ·  Trust, Identity &amp; Security  ·  Neo4j AuraDB track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Kavach — Real-Time Fraud Ring Detection</dc:title>
  <dc:subject>PptxGenJS Presentation</dc:subject>
  <dc:creator>Kavach</dc:creator>
  <cp:lastModifiedBy>Kavach</cp:lastModifiedBy>
  <cp:revision>1</cp:revision>
  <dcterms:created xsi:type="dcterms:W3CDTF">2026-07-02T12:11:39Z</dcterms:created>
  <dcterms:modified xsi:type="dcterms:W3CDTF">2026-07-02T12:11:39Z</dcterms:modified>
</cp:coreProperties>
</file>